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78" r:id="rId6"/>
    <p:sldId id="258" r:id="rId7"/>
    <p:sldId id="262" r:id="rId8"/>
    <p:sldId id="267" r:id="rId9"/>
    <p:sldId id="27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CA628-AC14-18B1-A792-09101A65E5C3}" v="516" dt="2026-04-28T20:34:40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3216" autoAdjust="0"/>
  </p:normalViewPr>
  <p:slideViewPr>
    <p:cSldViewPr snapToGrid="0">
      <p:cViewPr>
        <p:scale>
          <a:sx n="100" d="100"/>
          <a:sy n="100" d="100"/>
        </p:scale>
        <p:origin x="58" y="-950"/>
      </p:cViewPr>
      <p:guideLst>
        <p:guide pos="57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FD71-DE7D-47EA-BD5F-935596C85A92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89DD0-1E8D-4B61-ADE9-B87318B81B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3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3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6C8C1-E81C-436D-A310-A71CAAE33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103120"/>
            <a:ext cx="3848101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421" y="1600200"/>
            <a:ext cx="2743199" cy="3657600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F7B6DF9-E76A-44ED-B84C-1391CD5D5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CB9306-A7FD-4B22-8E8A-E0B8D7862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624728" y="3747150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2583" y="2102720"/>
            <a:ext cx="5422217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143000"/>
            <a:ext cx="5486400" cy="4572000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C2C3F7-8611-4C35-8251-0FD61D72D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5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493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42BA18D-167B-42CD-8DD5-844A2087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19A9BF1-35FD-4BDE-9C59-E08CB7A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2A2A47-BED9-43DF-8914-AD1EB274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0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BA353-19B1-4A04-A7EE-345F93C189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2491" y="946404"/>
            <a:ext cx="5486400" cy="4965192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4857A-B6DC-4F0A-AD6B-243F6C085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109" y="2386584"/>
            <a:ext cx="4315968" cy="2084832"/>
          </a:xfrm>
        </p:spPr>
        <p:txBody>
          <a:bodyPr anchor="t">
            <a:normAutofit/>
          </a:bodyPr>
          <a:lstStyle>
            <a:lvl1pPr>
              <a:defRPr sz="3400" spc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717D35-8E1B-4C94-BA72-91D4DCA65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71416"/>
            <a:ext cx="3584448" cy="63767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spc="1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15B60AE-D6AB-472C-8342-2A3EB5349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3208" y="1600200"/>
            <a:ext cx="2286000" cy="3657600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B5B262-532A-4EE4-98E7-0EB6A8C56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27251" y="114592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11277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52808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3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376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17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117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91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175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7498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498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4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5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4077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97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97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1719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18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9720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9719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349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4349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896D737-6139-4405-A7F2-E08C421815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9730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21A36A5-FCF3-4EE8-B5F2-41805C3F6A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9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630D673-CB21-40A3-A7BE-C996B20D681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97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0C83EF20-1DF8-43B4-B982-A382FF884E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46082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D09C98-5809-41AD-B215-493A3D74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002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9E3214F0-FC83-402F-BAC5-ED48275327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02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39B0FB7F-A1FC-40D1-ACFC-C3C966F9BC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1767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15EB3CBA-DD9B-449B-9B72-1917801771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1766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BA47B66D-8891-4AE7-98BE-3CFE9CDB5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9768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29AE99A-6054-4B2F-B99D-FE4F682613D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99767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D1F32591-7BBD-4006-AEA0-29F43CDADC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54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7BC780CD-8E77-4D0E-A436-DCB2AA0C15C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54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spc="3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8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6B483-82E1-4413-838C-27BAC184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486C5-22E8-475A-A424-8D493B6E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3D01-DAD2-4B28-BB2C-9FD028B0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776643-6C33-46CD-A918-AB0CEA571F00}"/>
              </a:ext>
            </a:extLst>
          </p:cNvPr>
          <p:cNvSpPr/>
          <p:nvPr userDrawn="1"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E62D2-A055-4712-92CC-4B02419D51FB}"/>
              </a:ext>
            </a:extLst>
          </p:cNvPr>
          <p:cNvSpPr/>
          <p:nvPr userDrawn="1"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9640" y="1844259"/>
            <a:ext cx="3657600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9640" y="2668171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0133" y="1808163"/>
            <a:ext cx="4703841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134" y="2632075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C89FBE-3029-4F92-8308-F830BB14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A4C88-FF32-4096-9EA9-EC22D3682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559B-132E-4A6E-ADBE-41DB38EC8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90825"/>
            <a:ext cx="2971800" cy="3248025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101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188" y="2790825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F7BCB16-19B7-48F6-94CD-563F439887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34" y="1976438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FBB2F8D-6092-468C-BA48-836286C6B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800350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63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5633F8-C03D-4CEE-BEDD-1B6648554C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628" y="685800"/>
            <a:ext cx="3200400" cy="54864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C27-A467-4265-AAB1-754D3F86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50230"/>
            <a:ext cx="5009147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CC7B6-D9ED-464B-8206-98055EB53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 spc="30" baseline="0"/>
            </a:lvl1pPr>
            <a:lvl2pPr marL="457200" indent="0">
              <a:lnSpc>
                <a:spcPts val="2400"/>
              </a:lnSpc>
              <a:buNone/>
              <a:defRPr sz="1400" spc="30" baseline="0"/>
            </a:lvl2pPr>
            <a:lvl3pPr marL="914400" indent="0">
              <a:lnSpc>
                <a:spcPts val="2400"/>
              </a:lnSpc>
              <a:buNone/>
              <a:defRPr sz="1400" spc="30" baseline="0"/>
            </a:lvl3pPr>
            <a:lvl4pPr marL="1371600" indent="0">
              <a:lnSpc>
                <a:spcPts val="2400"/>
              </a:lnSpc>
              <a:buNone/>
              <a:defRPr sz="1400" spc="30" baseline="0"/>
            </a:lvl4pPr>
            <a:lvl5pPr marL="1828800" indent="0">
              <a:lnSpc>
                <a:spcPts val="2400"/>
              </a:lnSpc>
              <a:buNone/>
              <a:defRPr sz="1400" spc="3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743C040-0A81-4A38-879D-07BBD18423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81800" y="2492375"/>
            <a:ext cx="2286000" cy="2514600"/>
          </a:xfrm>
          <a:solidFill>
            <a:schemeClr val="accent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DD4A8-3B48-439C-B601-8D04B871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761136" y="5210984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5870448"/>
          </a:xfr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3490624"/>
            <a:ext cx="4571999" cy="1235382"/>
          </a:xfrm>
          <a:solidFill>
            <a:schemeClr val="bg1">
              <a:alpha val="80000"/>
            </a:schemeClr>
          </a:solidFill>
        </p:spPr>
        <p:txBody>
          <a:bodyPr lIns="457200" bIns="137160" anchor="b">
            <a:normAutofit/>
          </a:bodyPr>
          <a:lstStyle>
            <a:lvl1pPr algn="l">
              <a:defRPr sz="36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  <a:solidFill>
            <a:schemeClr val="bg1">
              <a:alpha val="80000"/>
            </a:schemeClr>
          </a:solidFill>
        </p:spPr>
        <p:txBody>
          <a:bodyPr lIns="502920" rIns="2103120">
            <a:normAutofit/>
          </a:bodyPr>
          <a:lstStyle>
            <a:lvl1pPr marL="0" indent="0" algn="l">
              <a:buNone/>
              <a:defRPr sz="1400" spc="40" baseline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7B35-BCD3-4E41-916B-68490D92D9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3212D-BCAC-4F13-92C1-13A3004266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73FEF-4AED-4E29-A73E-9166ADC8D5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7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62B82C-34E9-4F3B-9B0F-A3207161C41E}"/>
              </a:ext>
            </a:extLst>
          </p:cNvPr>
          <p:cNvSpPr/>
          <p:nvPr userDrawn="1"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70" r:id="rId4"/>
    <p:sldLayoutId id="2147483672" r:id="rId5"/>
    <p:sldLayoutId id="2147483654" r:id="rId6"/>
    <p:sldLayoutId id="2147483658" r:id="rId7"/>
    <p:sldLayoutId id="2147483660" r:id="rId8"/>
    <p:sldLayoutId id="2147483671" r:id="rId9"/>
    <p:sldLayoutId id="2147483650" r:id="rId10"/>
    <p:sldLayoutId id="2147483667" r:id="rId11"/>
    <p:sldLayoutId id="2147483668" r:id="rId12"/>
    <p:sldLayoutId id="2147483662" r:id="rId13"/>
    <p:sldLayoutId id="214748366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392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frosty pine leaves&#10;">
            <a:extLst>
              <a:ext uri="{FF2B5EF4-FFF2-40B4-BE49-F238E27FC236}">
                <a16:creationId xmlns:a16="http://schemas.microsoft.com/office/drawing/2014/main" id="{E700099C-08E5-415B-A866-CD9A073DCD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724" y="411480"/>
            <a:ext cx="11274552" cy="60350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36493"/>
            <a:ext cx="5149596" cy="1448385"/>
          </a:xfrm>
        </p:spPr>
        <p:txBody>
          <a:bodyPr>
            <a:normAutofit/>
          </a:bodyPr>
          <a:lstStyle/>
          <a:p>
            <a:r>
              <a:rPr lang="en-US"/>
              <a:t>TEAM PROJECT FINAL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</p:spPr>
        <p:txBody>
          <a:bodyPr vert="horz" lIns="502920" tIns="45720" rIns="91440" bIns="45720" rtlCol="0" anchor="t">
            <a:normAutofit/>
          </a:bodyPr>
          <a:lstStyle/>
          <a:p>
            <a:r>
              <a:rPr lang="en-US"/>
              <a:t>Lucas Montoya and Cassandra Palmer</a:t>
            </a:r>
            <a:endParaRPr lang="en-US">
              <a:ea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103120"/>
            <a:ext cx="3848101" cy="1325563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pic>
        <p:nvPicPr>
          <p:cNvPr id="11" name="Picture Placeholder 10" descr="A snowy field with snow covered trees and blue skies">
            <a:extLst>
              <a:ext uri="{FF2B5EF4-FFF2-40B4-BE49-F238E27FC236}">
                <a16:creationId xmlns:a16="http://schemas.microsoft.com/office/drawing/2014/main" id="{5605CAF4-87E0-4A20-9AC1-E42F5D70BF4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7421" y="1600200"/>
            <a:ext cx="2743199" cy="36576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21450-3024-4103-98AE-6D80CECEDA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/>
          <a:p>
            <a:r>
              <a:rPr lang="en-US">
                <a:ea typeface="Source Sans Pro Light"/>
              </a:rPr>
              <a:t>We want to detect anomalous activity in network flow records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1C71-626E-4B31-B44C-602F88C0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Team Project Final Report</a:t>
            </a:r>
            <a:endParaRPr lang="en-US">
              <a:ea typeface="Source Sans Pro Ligh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CB36A-F473-4B86-BCEF-98BF3294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83" y="2102720"/>
            <a:ext cx="5422217" cy="1325563"/>
          </a:xfrm>
        </p:spPr>
        <p:txBody>
          <a:bodyPr/>
          <a:lstStyle/>
          <a:p>
            <a:r>
              <a:rPr lang="en-US"/>
              <a:t>PROBLEM</a:t>
            </a:r>
          </a:p>
        </p:txBody>
      </p:sp>
      <p:pic>
        <p:nvPicPr>
          <p:cNvPr id="6" name="Picture Placeholder 5" descr="A snowy landscape with trees and a fence&#10;">
            <a:extLst>
              <a:ext uri="{FF2B5EF4-FFF2-40B4-BE49-F238E27FC236}">
                <a16:creationId xmlns:a16="http://schemas.microsoft.com/office/drawing/2014/main" id="{60E2ED43-72AE-4B30-8CFC-A82B1ABBF5F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143000"/>
            <a:ext cx="5486400" cy="4572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buChar char="•"/>
            </a:pPr>
            <a:r>
              <a:rPr lang="en-US" sz="1800">
                <a:solidFill>
                  <a:srgbClr val="404040"/>
                </a:solidFill>
                <a:ea typeface="Source Sans Pro Light"/>
              </a:rPr>
              <a:t>Traditional methods are unreliable</a:t>
            </a:r>
            <a:endParaRPr lang="en-US" sz="1800">
              <a:ea typeface="Source Sans Pro Light"/>
            </a:endParaRP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800">
                <a:solidFill>
                  <a:srgbClr val="404040"/>
                </a:solidFill>
                <a:ea typeface="Source Sans Pro Light"/>
              </a:rPr>
              <a:t>A learned classifier could detect attacks faster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C394A-C440-414E-942C-A00E8C0F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Team Project Final Report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442E0-152B-4ACA-99D7-D70468E5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1630D-CC24-443B-B8F7-86EFA657E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76740" y="1933074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A snowy field with snow covered trees&#10;&#10;">
            <a:extLst>
              <a:ext uri="{FF2B5EF4-FFF2-40B4-BE49-F238E27FC236}">
                <a16:creationId xmlns:a16="http://schemas.microsoft.com/office/drawing/2014/main" id="{57CE5AFB-7187-4C2D-B242-7DFB03D9BC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2491" y="946404"/>
            <a:ext cx="5486400" cy="4965192"/>
          </a:xfrm>
        </p:spPr>
      </p:pic>
      <p:pic>
        <p:nvPicPr>
          <p:cNvPr id="26" name="Picture Placeholder 25" descr="snow covered pine leaves and pine cones&#10;">
            <a:extLst>
              <a:ext uri="{FF2B5EF4-FFF2-40B4-BE49-F238E27FC236}">
                <a16:creationId xmlns:a16="http://schemas.microsoft.com/office/drawing/2014/main" id="{36558FE3-0D16-474F-9215-B45433A929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3208" y="1600200"/>
            <a:ext cx="2286000" cy="365760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87061-589F-4FC7-8B5A-546227C3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Team Project Final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261B-78DC-43BA-8897-281BB35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A71308-AD3D-2A9F-17D5-08A412364460}"/>
              </a:ext>
            </a:extLst>
          </p:cNvPr>
          <p:cNvSpPr txBox="1">
            <a:spLocks/>
          </p:cNvSpPr>
          <p:nvPr/>
        </p:nvSpPr>
        <p:spPr>
          <a:xfrm>
            <a:off x="460998" y="1757663"/>
            <a:ext cx="542221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 spc="0" baseline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NLP TASK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3FE9B8-3465-CADA-2C41-73B4DB366D63}"/>
              </a:ext>
            </a:extLst>
          </p:cNvPr>
          <p:cNvSpPr txBox="1">
            <a:spLocks/>
          </p:cNvSpPr>
          <p:nvPr/>
        </p:nvSpPr>
        <p:spPr>
          <a:xfrm>
            <a:off x="457775" y="3155350"/>
            <a:ext cx="4572000" cy="188837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</a:pPr>
            <a:r>
              <a:rPr lang="en-US" sz="1800">
                <a:solidFill>
                  <a:srgbClr val="404040"/>
                </a:solidFill>
                <a:ea typeface="Source Sans Pro Light"/>
              </a:rPr>
              <a:t>Our NLP task is binary sequence classification</a:t>
            </a:r>
            <a:endParaRPr lang="en-US" sz="1800">
              <a:ea typeface="Source Sans Pro Light"/>
            </a:endParaRPr>
          </a:p>
          <a:p>
            <a:pPr marL="285750" indent="-285750">
              <a:lnSpc>
                <a:spcPct val="100000"/>
              </a:lnSpc>
            </a:pPr>
            <a:r>
              <a:rPr lang="en-US" sz="1800">
                <a:solidFill>
                  <a:srgbClr val="404040"/>
                </a:solidFill>
                <a:ea typeface="Source Sans Pro Light"/>
              </a:rPr>
              <a:t>Our dataset is CIC-IDS2017</a:t>
            </a:r>
          </a:p>
          <a:p>
            <a:pPr marL="285750" indent="-285750">
              <a:lnSpc>
                <a:spcPct val="100000"/>
              </a:lnSpc>
            </a:pPr>
            <a:r>
              <a:rPr lang="en-US" sz="1800">
                <a:ea typeface="Source Sans Pro Light"/>
              </a:rPr>
              <a:t>Every row is a network flow record of 77 numeric features, converted to text</a:t>
            </a:r>
            <a:endParaRPr lang="en-US" sz="1800" dirty="0">
              <a:ea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55456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0230"/>
            <a:ext cx="5009147" cy="1325563"/>
          </a:xfrm>
        </p:spPr>
        <p:txBody>
          <a:bodyPr/>
          <a:lstStyle/>
          <a:p>
            <a:r>
              <a:rPr lang="en-US"/>
              <a:t>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Source Sans Pro Light"/>
              </a:rPr>
              <a:t>We tested many strategies, including:</a:t>
            </a:r>
          </a:p>
          <a:p>
            <a:pPr marL="285750" indent="-285750">
              <a:buChar char="•"/>
            </a:pPr>
            <a:r>
              <a:rPr lang="en-US" sz="1800">
                <a:ea typeface="Source Sans Pro Light"/>
              </a:rPr>
              <a:t>Logistic Regression</a:t>
            </a:r>
            <a:endParaRPr lang="en-US" sz="1800" dirty="0">
              <a:ea typeface="Source Sans Pro Light"/>
            </a:endParaRPr>
          </a:p>
          <a:p>
            <a:pPr marL="285750" indent="-285750">
              <a:buChar char="•"/>
            </a:pPr>
            <a:r>
              <a:rPr lang="en-US" sz="1800">
                <a:ea typeface="Source Sans Pro Light"/>
              </a:rPr>
              <a:t>Balanced Class Weight</a:t>
            </a:r>
            <a:endParaRPr lang="en-US" sz="1800" dirty="0">
              <a:ea typeface="Source Sans Pro Light"/>
            </a:endParaRPr>
          </a:p>
          <a:p>
            <a:pPr marL="285750" indent="-285750">
              <a:buChar char="•"/>
            </a:pPr>
            <a:r>
              <a:rPr lang="en-US" sz="1800">
                <a:ea typeface="Source Sans Pro Light"/>
              </a:rPr>
              <a:t>Bucketed Vocabulary</a:t>
            </a:r>
            <a:endParaRPr lang="en-US" sz="1800" dirty="0">
              <a:ea typeface="Source Sans Pro Light"/>
            </a:endParaRPr>
          </a:p>
          <a:p>
            <a:pPr marL="285750" indent="-285750">
              <a:buChar char="•"/>
            </a:pPr>
            <a:r>
              <a:rPr lang="en-US" sz="1800" dirty="0" err="1">
                <a:ea typeface="Source Sans Pro Light"/>
              </a:rPr>
              <a:t>RandomForest</a:t>
            </a:r>
            <a:endParaRPr lang="en-US" sz="1800">
              <a:ea typeface="Source Sans Pro Light"/>
            </a:endParaRPr>
          </a:p>
          <a:p>
            <a:pPr marL="285750" indent="-285750">
              <a:buChar char="•"/>
            </a:pPr>
            <a:r>
              <a:rPr lang="en-US" sz="1800" dirty="0" err="1">
                <a:ea typeface="Source Sans Pro Light"/>
              </a:rPr>
              <a:t>DistilBERT</a:t>
            </a:r>
            <a:endParaRPr lang="en-US" sz="1800">
              <a:ea typeface="Source Sans Pro Light"/>
            </a:endParaRPr>
          </a:p>
        </p:txBody>
      </p:sp>
      <p:pic>
        <p:nvPicPr>
          <p:cNvPr id="9" name="Picture Placeholder 8" descr="Close up of frosty covered pine needles&#10;&#10;">
            <a:extLst>
              <a:ext uri="{FF2B5EF4-FFF2-40B4-BE49-F238E27FC236}">
                <a16:creationId xmlns:a16="http://schemas.microsoft.com/office/drawing/2014/main" id="{CA93B263-80B8-4F32-B69B-548E670DBC4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2628" y="685800"/>
            <a:ext cx="3200400" cy="54864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77F7-5C75-4099-A9A8-D6469639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Team Project Final Report</a:t>
            </a:r>
          </a:p>
        </p:txBody>
      </p:sp>
      <p:pic>
        <p:nvPicPr>
          <p:cNvPr id="11" name="Picture Placeholder 10" descr="A small bird on a snow covered branch">
            <a:extLst>
              <a:ext uri="{FF2B5EF4-FFF2-40B4-BE49-F238E27FC236}">
                <a16:creationId xmlns:a16="http://schemas.microsoft.com/office/drawing/2014/main" id="{CE646606-940F-4C41-BC56-6A295533E9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800" y="2492375"/>
            <a:ext cx="2286000" cy="25146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1E52-FFC6-40C5-B370-26EA23A5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164D896-4ED3-0FD1-4031-4648EA0D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41ABD-AB14-4FFB-83C2-356429E7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Team Final Project Report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37DC1-C666-4188-3077-E6A85A50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Picture 7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1AA96F1-40F0-8555-CF69-38873C4F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47689"/>
            <a:ext cx="12192000" cy="3231287"/>
          </a:xfrm>
          <a:prstGeom prst="rect">
            <a:avLst/>
          </a:prstGeom>
        </p:spPr>
      </p:pic>
      <p:pic>
        <p:nvPicPr>
          <p:cNvPr id="9" name="Picture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2C8BAB9A-5F1E-6F17-265B-A1631194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4496725"/>
            <a:ext cx="12192000" cy="222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top view of snow covered pine trees&#10;">
            <a:extLst>
              <a:ext uri="{FF2B5EF4-FFF2-40B4-BE49-F238E27FC236}">
                <a16:creationId xmlns:a16="http://schemas.microsoft.com/office/drawing/2014/main" id="{51C7B78B-F743-4CBD-8A4C-876D008563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" b="35"/>
          <a:stretch/>
        </p:blipFill>
        <p:spPr>
          <a:xfrm>
            <a:off x="458724" y="411480"/>
            <a:ext cx="11274552" cy="5870448"/>
          </a:xfr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B4A6BAED-EBE6-4796-91D1-762EB5936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3490624"/>
            <a:ext cx="4571999" cy="1235382"/>
          </a:xfrm>
        </p:spPr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</p:spPr>
        <p:txBody>
          <a:bodyPr vert="horz" lIns="502920" tIns="45720" rIns="2103120" bIns="45720" rtlCol="0" anchor="t">
            <a:normAutofit/>
          </a:bodyPr>
          <a:lstStyle/>
          <a:p>
            <a:r>
              <a:rPr lang="en-US"/>
              <a:t>Lucas Montoya</a:t>
            </a:r>
          </a:p>
          <a:p>
            <a:r>
              <a:rPr lang="en-US"/>
              <a:t>Cassandra Palmer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97C3A-E176-4B80-8FFB-59AEDA8FF6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Team Project Final Report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A013C-58D4-443C-8EA6-4B648A14ED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EF2"/>
      </a:accent1>
      <a:accent2>
        <a:srgbClr val="9CD3D9"/>
      </a:accent2>
      <a:accent3>
        <a:srgbClr val="387373"/>
      </a:accent3>
      <a:accent4>
        <a:srgbClr val="022E40"/>
      </a:accent4>
      <a:accent5>
        <a:srgbClr val="F2E4C9"/>
      </a:accent5>
      <a:accent6>
        <a:srgbClr val="FFFFF5"/>
      </a:accent6>
      <a:hlink>
        <a:srgbClr val="0563C1"/>
      </a:hlink>
      <a:folHlink>
        <a:srgbClr val="954F72"/>
      </a:folHlink>
    </a:clrScheme>
    <a:fontScheme name="Custom 114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1D1A41-01F0-4C5C-80FC-D7734A9F3A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DCD41-C0EE-49F0-80CC-0DC855F8F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7481B2-61F1-4998-A5FC-37E947E1DE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TM44613219</Template>
  <TotalTime>0</TotalTime>
  <Words>421</Words>
  <Application>Microsoft Office PowerPoint</Application>
  <PresentationFormat>Widescreen</PresentationFormat>
  <Paragraphs>137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TEAM PROJECT FINAL REPORT</vt:lpstr>
      <vt:lpstr>MOTIVATION</vt:lpstr>
      <vt:lpstr>PROBLEM</vt:lpstr>
      <vt:lpstr>PowerPoint Presentation</vt:lpstr>
      <vt:lpstr>ALGORITHMS</vt:lpstr>
      <vt:lpstr>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2026-04-28T19:24:10Z</dcterms:created>
  <dcterms:modified xsi:type="dcterms:W3CDTF">2026-04-28T20:35:08Z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